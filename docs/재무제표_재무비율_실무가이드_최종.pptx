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6aa352067e4f13" /><Relationship Type="http://schemas.openxmlformats.org/officeDocument/2006/relationships/extended-properties" Target="/docProps/app.xml" Id="R0a1ff0fec9734c52" /><Relationship Type="http://schemas.openxmlformats.org/officeDocument/2006/relationships/officeDocument" Target="/ppt/presentation.xml" Id="Rf9077cd7c5a340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36fcffd782403f"/>
  </p:sldMasterIdLst>
  <p:notesMasterIdLst>
    <p:notesMasterId xmlns:r="http://schemas.openxmlformats.org/officeDocument/2006/relationships" r:id="R48ab96dbb11e4fbf"/>
  </p:notesMasterIdLst>
  <p:sldIdLst>
    <p:sldId xmlns:r="http://schemas.openxmlformats.org/officeDocument/2006/relationships" id="256" r:id="Rbe604ebc11a145e1"/>
    <p:sldId xmlns:r="http://schemas.openxmlformats.org/officeDocument/2006/relationships" id="257" r:id="R5224a66fcd1241a7"/>
    <p:sldId xmlns:r="http://schemas.openxmlformats.org/officeDocument/2006/relationships" id="258" r:id="R4223668c1a824b52"/>
    <p:sldId xmlns:r="http://schemas.openxmlformats.org/officeDocument/2006/relationships" id="259" r:id="R8fec9b974a764a7b"/>
    <p:sldId xmlns:r="http://schemas.openxmlformats.org/officeDocument/2006/relationships" id="260" r:id="Rf79a759f316b45ff"/>
    <p:sldId xmlns:r="http://schemas.openxmlformats.org/officeDocument/2006/relationships" id="261" r:id="Rd63cc38b49054d95"/>
    <p:sldId xmlns:r="http://schemas.openxmlformats.org/officeDocument/2006/relationships" id="262" r:id="R1644101e53484f32"/>
    <p:sldId xmlns:r="http://schemas.openxmlformats.org/officeDocument/2006/relationships" id="263" r:id="R755ab61c8a6648f8"/>
    <p:sldId xmlns:r="http://schemas.openxmlformats.org/officeDocument/2006/relationships" id="264" r:id="R81b17369bea14a35"/>
    <p:sldId xmlns:r="http://schemas.openxmlformats.org/officeDocument/2006/relationships" id="265" r:id="Reb788ae3d8c14231"/>
    <p:sldId xmlns:r="http://schemas.openxmlformats.org/officeDocument/2006/relationships" id="266" r:id="R3f9a4e5716e64dd2"/>
    <p:sldId xmlns:r="http://schemas.openxmlformats.org/officeDocument/2006/relationships" id="267" r:id="R34d536755f094387"/>
    <p:sldId xmlns:r="http://schemas.openxmlformats.org/officeDocument/2006/relationships" id="268" r:id="R14f22e96b6d94b1f"/>
    <p:sldId xmlns:r="http://schemas.openxmlformats.org/officeDocument/2006/relationships" id="269" r:id="Rf359f5f971fd4f3d"/>
    <p:sldId xmlns:r="http://schemas.openxmlformats.org/officeDocument/2006/relationships" id="270" r:id="R398d59cf20af4b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9f71b83d7a48ff" /><Relationship Type="http://schemas.openxmlformats.org/officeDocument/2006/relationships/slideMaster" Target="/ppt/slideMasters/slideMaster1.xml" Id="R9236fcffd782403f" /><Relationship Type="http://schemas.openxmlformats.org/officeDocument/2006/relationships/notesMaster" Target="/ppt/notesMasters/notesMaster1.xml" Id="R48ab96dbb11e4fbf" /><Relationship Type="http://schemas.openxmlformats.org/officeDocument/2006/relationships/presProps" Target="/ppt/presProps.xml" Id="Rc653acde3afe4ca2" /><Relationship Type="http://schemas.openxmlformats.org/officeDocument/2006/relationships/tableStyles" Target="/ppt/tableStyles.xml" Id="Rffc8278cd66a4507" /><Relationship Type="http://schemas.openxmlformats.org/officeDocument/2006/relationships/slide" Target="/ppt/slides/slide1.xml" Id="Rbe604ebc11a145e1" /><Relationship Type="http://schemas.openxmlformats.org/officeDocument/2006/relationships/slide" Target="/ppt/slides/slide2.xml" Id="R5224a66fcd1241a7" /><Relationship Type="http://schemas.openxmlformats.org/officeDocument/2006/relationships/slide" Target="/ppt/slides/slide3.xml" Id="R4223668c1a824b52" /><Relationship Type="http://schemas.openxmlformats.org/officeDocument/2006/relationships/slide" Target="/ppt/slides/slide4.xml" Id="R8fec9b974a764a7b" /><Relationship Type="http://schemas.openxmlformats.org/officeDocument/2006/relationships/slide" Target="/ppt/slides/slide5.xml" Id="Rf79a759f316b45ff" /><Relationship Type="http://schemas.openxmlformats.org/officeDocument/2006/relationships/slide" Target="/ppt/slides/slide6.xml" Id="Rd63cc38b49054d95" /><Relationship Type="http://schemas.openxmlformats.org/officeDocument/2006/relationships/slide" Target="/ppt/slides/slide7.xml" Id="R1644101e53484f32" /><Relationship Type="http://schemas.openxmlformats.org/officeDocument/2006/relationships/slide" Target="/ppt/slides/slide8.xml" Id="R755ab61c8a6648f8" /><Relationship Type="http://schemas.openxmlformats.org/officeDocument/2006/relationships/slide" Target="/ppt/slides/slide9.xml" Id="R81b17369bea14a35" /><Relationship Type="http://schemas.openxmlformats.org/officeDocument/2006/relationships/slide" Target="/ppt/slides/slide10.xml" Id="Reb788ae3d8c14231" /><Relationship Type="http://schemas.openxmlformats.org/officeDocument/2006/relationships/slide" Target="/ppt/slides/slide11.xml" Id="R3f9a4e5716e64dd2" /><Relationship Type="http://schemas.openxmlformats.org/officeDocument/2006/relationships/slide" Target="/ppt/slides/slide12.xml" Id="R34d536755f094387" /><Relationship Type="http://schemas.openxmlformats.org/officeDocument/2006/relationships/slide" Target="/ppt/slides/slide13.xml" Id="R14f22e96b6d94b1f" /><Relationship Type="http://schemas.openxmlformats.org/officeDocument/2006/relationships/slide" Target="/ppt/slides/slide14.xml" Id="Rf359f5f971fd4f3d" /><Relationship Type="http://schemas.openxmlformats.org/officeDocument/2006/relationships/slide" Target="/ppt/slides/slide15.xml" Id="R398d59cf20af4b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5fbe73333e4f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3d9c352ceb4cd5" /><Relationship Type="http://schemas.openxmlformats.org/officeDocument/2006/relationships/notesMaster" Target="/ppt/notesMasters/notesMaster1.xml" Id="R60de4bea84374f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f899cba5844e6f" /><Relationship Type="http://schemas.openxmlformats.org/officeDocument/2006/relationships/notesMaster" Target="/ppt/notesMasters/notesMaster1.xml" Id="R4f2df336c23741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49b9538dbb4e73" /><Relationship Type="http://schemas.openxmlformats.org/officeDocument/2006/relationships/notesMaster" Target="/ppt/notesMasters/notesMaster1.xml" Id="R7984eb75c4f74c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79c21402a549ba" /><Relationship Type="http://schemas.openxmlformats.org/officeDocument/2006/relationships/notesMaster" Target="/ppt/notesMasters/notesMaster1.xml" Id="R12d00b69863c46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27f83a2766460d" /><Relationship Type="http://schemas.openxmlformats.org/officeDocument/2006/relationships/notesMaster" Target="/ppt/notesMasters/notesMaster1.xml" Id="R939024c0795b47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d912ca3fa14020" /><Relationship Type="http://schemas.openxmlformats.org/officeDocument/2006/relationships/notesMaster" Target="/ppt/notesMasters/notesMaster1.xml" Id="Rbdd8ed57eb2e42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e65b9f88c0473d" /><Relationship Type="http://schemas.openxmlformats.org/officeDocument/2006/relationships/notesMaster" Target="/ppt/notesMasters/notesMaster1.xml" Id="R99d7311e7bd841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155baae6564224" /><Relationship Type="http://schemas.openxmlformats.org/officeDocument/2006/relationships/notesMaster" Target="/ppt/notesMasters/notesMaster1.xml" Id="R419d2979653543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e5cb7f9c4d4362" /><Relationship Type="http://schemas.openxmlformats.org/officeDocument/2006/relationships/notesMaster" Target="/ppt/notesMasters/notesMaster1.xml" Id="Rbd245957ddb340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a195333fa14015" /><Relationship Type="http://schemas.openxmlformats.org/officeDocument/2006/relationships/notesMaster" Target="/ppt/notesMasters/notesMaster1.xml" Id="R945a25e8030746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2fc5d6d8ad48e1" /><Relationship Type="http://schemas.openxmlformats.org/officeDocument/2006/relationships/notesMaster" Target="/ppt/notesMasters/notesMaster1.xml" Id="Reda5250f9f094d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4e5642d8004a42" /><Relationship Type="http://schemas.openxmlformats.org/officeDocument/2006/relationships/notesMaster" Target="/ppt/notesMasters/notesMaster1.xml" Id="R4fc0d7aee17f4c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027aea05034a81" /><Relationship Type="http://schemas.openxmlformats.org/officeDocument/2006/relationships/notesMaster" Target="/ppt/notesMasters/notesMaster1.xml" Id="Rcf70210a4d074f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9d6030c4524ccb" /><Relationship Type="http://schemas.openxmlformats.org/officeDocument/2006/relationships/notesMaster" Target="/ppt/notesMasters/notesMaster1.xml" Id="R3923971fe6fc45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470c9b687041d5" /><Relationship Type="http://schemas.openxmlformats.org/officeDocument/2006/relationships/notesMaster" Target="/ppt/notesMasters/notesMaster1.xml" Id="Re46fa39739394d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본 자료는 일반 비금융기업을 기준으로 작성했습니다. 금융업 등은 업종별 규제 및 특화 지표를 추가해야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비율 분석의 주요 범주는 유동성, 활동성, 지급능력, 수익성으로 분류할 수 있습니다. 출처: CFA Institute Financial Analysis Techniques; OpenStax A Financial Statement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재무제표 구성 참고: U.S. SEC Investor.gov, How to Read a 10-K and How to Understand Company Financial Statements.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EBITDA는 비GAAP 보조지표로 회사별 조정 항목이 다를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분류와 대표 산식 참고: CFA Institute Financial Analysis Techniques and Financial Ratio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계산식 참고: CFA Institute Financial Ratio List. 실제 분석에서는 회사 공시와 약정 정의를 우선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본 자료는 교육 및 실무 참고 목적이며 특정 기업에 대한 투자 의견을 제공하지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1dc5d1c024d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b394760df34413" /><Relationship Type="http://schemas.openxmlformats.org/officeDocument/2006/relationships/slideLayout" Target="/ppt/slideLayouts/slideLayout1.xml" Id="R75c7f34b89c244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c7f34b89c2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8c9d05dba4cc5" /><Relationship Type="http://schemas.openxmlformats.org/officeDocument/2006/relationships/notesSlide" Target="/ppt/notesSlides/notesSlide1.xml" Id="R3abfe47c38434d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9ddf0bb234ac8" /><Relationship Type="http://schemas.openxmlformats.org/officeDocument/2006/relationships/notesSlide" Target="/ppt/notesSlides/notesSlide2.xml" Id="Re685848c143941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36d3dc8884d16" /><Relationship Type="http://schemas.openxmlformats.org/officeDocument/2006/relationships/notesSlide" Target="/ppt/notesSlides/notesSlide3.xml" Id="Ra6612d2b2fe74e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019e60475472a" /><Relationship Type="http://schemas.openxmlformats.org/officeDocument/2006/relationships/notesSlide" Target="/ppt/notesSlides/notesSlide4.xml" Id="Red5cf068850449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4fb0e19b8451c" /><Relationship Type="http://schemas.openxmlformats.org/officeDocument/2006/relationships/notesSlide" Target="/ppt/notesSlides/notesSlide5.xml" Id="R1be8fc31754843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19e54dd1c4a7c" /><Relationship Type="http://schemas.openxmlformats.org/officeDocument/2006/relationships/notesSlide" Target="/ppt/notesSlides/notesSlide6.xml" Id="R9a28973d85af45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b876b2a6a42ba" /><Relationship Type="http://schemas.openxmlformats.org/officeDocument/2006/relationships/notesSlide" Target="/ppt/notesSlides/notesSlide7.xml" Id="R38b17a0526a54b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b2bce839a403a" /><Relationship Type="http://schemas.openxmlformats.org/officeDocument/2006/relationships/notesSlide" Target="/ppt/notesSlides/notesSlide8.xml" Id="R22d89c3f2f9047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ac3ce7db147e6" /><Relationship Type="http://schemas.openxmlformats.org/officeDocument/2006/relationships/notesSlide" Target="/ppt/notesSlides/notesSlide9.xml" Id="Rdd14e9cceacb48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b983949c04a05" /><Relationship Type="http://schemas.openxmlformats.org/officeDocument/2006/relationships/notesSlide" Target="/ppt/notesSlides/notesSlide10.xml" Id="R487e94e14c5b46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7973047a5488c" /><Relationship Type="http://schemas.openxmlformats.org/officeDocument/2006/relationships/notesSlide" Target="/ppt/notesSlides/notesSlide11.xml" Id="Rf5e6b6de50054a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3c3dba1f5442f" /><Relationship Type="http://schemas.openxmlformats.org/officeDocument/2006/relationships/notesSlide" Target="/ppt/notesSlides/notesSlide12.xml" Id="R8cb12f9dd2d140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29e16748d4486" /><Relationship Type="http://schemas.openxmlformats.org/officeDocument/2006/relationships/notesSlide" Target="/ppt/notesSlides/notesSlide13.xml" Id="R26b7cff9ddb443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47ac4c2174df6" /><Relationship Type="http://schemas.openxmlformats.org/officeDocument/2006/relationships/notesSlide" Target="/ppt/notesSlides/notesSlide14.xml" Id="Rdd5c8805d11544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9dcbb3dd54abc" /><Relationship Type="http://schemas.openxmlformats.org/officeDocument/2006/relationships/notesSlide" Target="/ppt/notesSlides/notesSlide15.xml" Id="Ra8c89e7dcdbf44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76ED6-6BBC-429E-BB98-7B433DCD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74691-4743-4848-A841-9EEE2AA3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재무제표 및 재무비율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1674C-8DE7-4A4F-844E-4B1E24AD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실무 가이드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E7392-6DD9-4E5F-8D9E-054BC4DA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핵심 수치의 정의와 해석부터 여섯 단계 분석 흐름까지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B7DB9-345B-4F9B-B837-F21180FB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67175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03B5B-1340-4792-8F3F-D93CB854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055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65D"/>
                </a:solidFill>
                <a:latin typeface="Malgun Gothic"/>
                <a:ea typeface="Malgun Gothic"/>
                <a:cs typeface="Malgun Gothic"/>
              </a:rPr>
              <a:t>매출 성장  /  이익률  /  현금흐름  /  차입 부담  /  투자수익률  /  주가 수준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24FF3-9E0A-48D1-9668-1F5B5DB9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재무·기획·경영관리·투자·신용분석 실무자용</a:t>
            </a:r>
          </a:p>
        </p:txBody>
      </p:sp>
    </p:spTree>
    <p:extLst>
      <p:ext uri="{BB962C8B-B14F-4D97-AF65-F5344CB8AC3E}">
        <p14:creationId xmlns:p14="http://schemas.microsoft.com/office/powerpoint/2010/main" val="951374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5E368A-4AB7-41D0-A664-6A211154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분석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4E520-F62B-45C4-BD45-F57EE0F1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실무 분석의 여섯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1F0D5-DD8B-40B1-BFB5-19C3A96A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9144F-19AA-44D5-8976-37A46CF5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69171-D1F5-4E84-8604-FA8EC0C1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581150" cy="16383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B53B4-B1EC-43FC-9919-9DD85C44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E587A-420C-42BC-84DF-966D9F69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매출 성장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335A7-7BD1-4DB7-9B71-75F52F47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575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성장 원천과 지속성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3BF69-51EC-4C4F-ACA8-FAF66D39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38350"/>
            <a:ext cx="1581150" cy="16383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36826-536D-4C62-A3E6-327616F8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717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AB9A9-D413-4355-9029-93C708C2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622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이익률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7FE2F-81B5-4869-BD88-028FA5AB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575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9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가격·원가·고정비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D08B8-77AB-4B7C-BBDE-F843C90F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1581150" cy="16383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00670-A0DA-4426-A7B5-E010152D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717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8AAD7-C57F-4543-B1FB-CFC71C9D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622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현금흐름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F02D9-52B9-454C-8658-AE33B911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575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5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이익의 현금 전환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F69B3-2E6F-4217-9EA9-032BBC0E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1581150" cy="16383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AD4AE-28B7-4E10-91B5-F632E1D8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07E14-4FF1-47E6-ABF4-2CD3421A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차입 부담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3F443-DCC5-42CA-B030-F7AB1730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575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상환·이자·차환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DB526-FB34-4607-B8FE-F51949C9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1581150" cy="16383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88A1E-4E48-4DF1-ACC7-681815DB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717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05663-4F3B-4178-BF87-F25C69F3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투자수익률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D8F8EB-F55A-472E-9BA5-F50A5566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72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ROIC와 자본비용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CEDB9-76CC-46E4-9AAD-DEDCAE50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581150" cy="163830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20192E-2755-4351-A585-76543BD9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717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38F5F0-3E2D-452C-A982-90F2D72F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622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주가 수준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6F0979-B4EF-4309-9383-1D19F607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575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DE9F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E9F5"/>
                </a:solidFill>
                <a:latin typeface="Malgun Gothic"/>
                <a:ea typeface="Malgun Gothic"/>
                <a:cs typeface="Malgun Gothic"/>
              </a:rPr>
              <a:t>기대와 위험의 가격</a:t>
            </a:r>
          </a:p>
        </p:txBody>
      </p:sp>
      <p:cxnSp>
        <p:nvCxnSpPr>
          <p:cNvPr id="64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47900" y="28575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1BD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14800" y="28575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1BD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981700" y="28575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1BD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48600" y="28575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1BD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715500" y="28575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1BD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55EE10-B703-47CD-A293-C1A46DEB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65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365D"/>
                </a:solidFill>
                <a:latin typeface="Malgun Gothic"/>
                <a:ea typeface="Malgun Gothic"/>
                <a:cs typeface="Malgun Gothic"/>
              </a:rPr>
              <a:t>각 단계의 결론이 다음 단계의 질문이 된다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2B7EF-C68E-4463-AECD-FCB3934E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86300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단일 수치보다 3~5개 기간의 추세와 동종기업 비교를 우선한다.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손익 개선이 현금과 자본 효율로 이어지는지 확인한 뒤 시장가격을 평가한다.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연결·별도, 연간·분기, 조정 전·후 기준을 섞지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969621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332B2-016C-4C7A-A65B-0F2BB3D7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기초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F6A5A-29CA-4657-8108-DA5F4F0C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재무제표의 연결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0AD4B-9616-405F-90F0-565AA038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46B3E-4F4D-4975-A565-31DDC09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544E0-6114-4216-AE11-84301671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9527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8945C-879E-4807-8AA9-5D45FB60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14500"/>
            <a:ext cx="29527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DC8CD-7425-4DD4-8FCE-7EDAFE25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14500"/>
            <a:ext cx="295275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904B9-A64D-4E0F-BEC3-E27A3CB9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6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365D"/>
                </a:solidFill>
                <a:latin typeface="Malgun Gothic"/>
                <a:ea typeface="Malgun Gothic"/>
                <a:cs typeface="Malgun Gothic"/>
              </a:rPr>
              <a:t>재무상태표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76B9B-1C4D-4C63-BD6D-EDF26456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자산  =  부채  +  자본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8EE5E-9893-4403-BD59-7AC838DB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특정 시점의 재무구조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9667A-3427-4900-A21D-A9F4AF0E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952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65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365D"/>
                </a:solidFill>
                <a:latin typeface="Malgun Gothic"/>
                <a:ea typeface="Malgun Gothic"/>
                <a:cs typeface="Malgun Gothic"/>
              </a:rPr>
              <a:t>손익계산서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EEBB7-5A2D-464C-BDBA-B3DF05B8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57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매출  -  비용  =  이익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6ED51-9A87-47CA-8E35-E72B7C8D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일정 기간의 경영성과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A2149-42A4-499A-A293-6DC35E84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52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현금흐름표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81C0E-9BBC-4AD1-B06E-D3F65812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57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영업  +  투자  +  재무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56935-CC84-42CE-978C-D6BFAD84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76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DE9F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DE9F5"/>
                </a:solidFill>
                <a:latin typeface="Malgun Gothic"/>
                <a:ea typeface="Malgun Gothic"/>
                <a:cs typeface="Malgun Gothic"/>
              </a:rPr>
              <a:t>이익이 현금이 되는 과정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71900" y="252412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1BD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72375" y="252412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81BD"/>
            </a:solidFill>
            <a:prstDash val="solid"/>
            <a:tailEnd type="triangle" w="sm" len="sm"/>
          </a:ln>
        </p:spPr>
      </p:cxnSp>
      <p:graphicFrame>
        <p:nvGraphicFramePr>
          <p:cNvPr id="38" name=""/>
          <p:cNvGraphicFramePr/>
          <p:nvPr/>
        </p:nvGraphicFramePr>
        <p:xfrm>
          <a:off xmlns:a="http://schemas.openxmlformats.org/drawingml/2006/main" x="1143000" y="3924300"/>
          <a:ext xmlns:a="http://schemas.openxmlformats.org/drawingml/2006/main" cx="990600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78380"/>
                <a:gridCol w="7627620"/>
              </a:tblGrid>
              <a:tr h="4152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항목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실무에서 확인할 내용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4152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당기순이익과 자본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순이익·배당·증자·자사주 거래가 자본 변동과 일치하는지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당기순이익과 CFO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비현금 손익과 운전자본 변동을 통해 이익의 현금 전환을 확인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4152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CAPEX와 유형자산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투자지출·감가상각·처분이 유형자산 증감과 일치하는지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차입과 현금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차입·상환·이자지급이 기말 현금과 순차입금에 미친 영향을 확인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127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196D3-8952-4C21-80D2-F1D09C09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필수 수치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47147-686C-42FA-9337-486F42F9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재무제표 핵심 수치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CD12B-C4A2-4E1B-AD11-EF7512EF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5469A-9D32-408A-9267-D9BDA555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32367"/>
                <a:gridCol w="3019647"/>
                <a:gridCol w="3774558"/>
                <a:gridCol w="2893828"/>
              </a:tblGrid>
              <a:tr h="59436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수치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해석의 초점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9436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재무상태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현금, 매출채권, 재고, 차입금, 자본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유동성, 운전자본, 만기와 자본구조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지급능력과 자금조달 위험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경영성과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매출, 매출총이익, 영업이익, 순이익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판매량·가격·원가·판관비·일회성 항목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성장성과 수익성 판단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9436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현금흐름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CFO, CAPEX, FCF, 차입·상환·배당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이익의 현금 전환과 투자 후 잔여 현금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상환·재투자·주주환원 여력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주주 관점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지배주주순이익, EPS, BPS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모회사 주주에게 귀속되는 이익과 자본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ROE와 주당가치 분석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96F32-E45F-4F5E-AEDB-FD3DAD1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61B1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A61B1B"/>
                </a:solidFill>
                <a:latin typeface="Malgun Gothic"/>
                <a:ea typeface="Malgun Gothic"/>
                <a:cs typeface="Malgun Gothic"/>
              </a:rPr>
              <a:t>EBITDA는 영업현금흐름이 아니다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7A1AB-F401-4302-9EFE-9187EE86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0429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상각비를 더해도 CAPEX와 운전자본 소요는 남는다. 현금창출력은 CFO와 FCF로 별도 확인한다.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47A91-C554-4475-A9F2-AB5F100A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정의는 회사·기관별로 달라질 수 있으므로 비교 전에 산식과 조정 범위를 확인</a:t>
            </a:r>
          </a:p>
        </p:txBody>
      </p:sp>
    </p:spTree>
    <p:extLst>
      <p:ext uri="{BB962C8B-B14F-4D97-AF65-F5344CB8AC3E}">
        <p14:creationId xmlns:p14="http://schemas.microsoft.com/office/powerpoint/2010/main" val="306765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B7578-5E14-4F61-A7DB-4FDF68A3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필수 비율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DAF05-BEF8-4217-91B9-D11D7ED4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재무비율의 다섯 범주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156FC-2340-47E7-8A24-45801691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C281F-065E-4E01-BA78-16A5234A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76300" y="1638300"/>
          <a:ext xmlns:a="http://schemas.openxmlformats.org/drawingml/2006/main" cx="104394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3798"/>
                <a:gridCol w="3930127"/>
                <a:gridCol w="5035475"/>
              </a:tblGrid>
              <a:tr h="5937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지표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질문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937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수익성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매출총이익률, 영업이익률, ROA, ROE, ROIC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매출과 투입자본에서 얼마나 이익을 남기는가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유동성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유동비율, 당좌비율, 현금비율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단기 의무를 제때 이행할 수 있는가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937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재무안정성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부채비율, 이자보상배율, 순차입금/EBITDA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이자와 원금을 감당하고 차환할 수 있는가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37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활동성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총자산회전율, DSO, DIO, DPO, CCC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자산과 운전자본이 매출과 현금으로 얼마나 빨리 바뀌는가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937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성장·가치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매출증가율, CFO/순이익, PER, PBR, EV/EBITDA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성장의 질과 시장의 기대 수준은 어떠한가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CFD35-1EE9-47BB-8988-B0449124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높고 낮음의 의미는 업종, 사업모델, 성장단계에 따라 달라진다.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5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절대 수준보다 방향과 원인을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116136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9266E-8BA0-4D25-9B91-30616E0F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실무 분석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D0181-8911-4573-8977-27D7256E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매출 성장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C2502-89B1-410F-9588-6270AE6F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EAF2A-A01C-4975-84B4-75B07D9F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7AED1-7426-42BD-AF21-DCAE2D30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36C04-2611-440E-B71B-9568941F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439B6-0394-4E32-B35A-CD8A303B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매출 성장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27022-F0A7-4550-A9ED-BA46F1D9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81125"/>
            <a:ext cx="918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외형이 실제 사업 성장으로 확대되고 있는가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66750" y="2324100"/>
          <a:ext xmlns:a="http://schemas.openxmlformats.org/drawingml/2006/main" cx="108585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0991"/>
                <a:gridCol w="2832652"/>
                <a:gridCol w="3034984"/>
                <a:gridCol w="3169873"/>
              </a:tblGrid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지표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산식 또는 분해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실무 판단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경고 신호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매출증가율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당기 매출 / 전기 매출 - 1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 속도와 기저효과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성장률 급락 또는 변동성 확대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판매량·단가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= 판매량 × 평균단가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물량 성장과 가격 효과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 인상만으로 성장, 판매량 감소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유기적 성장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 성장 - 환율 - 인수 효과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본업의 실제 성장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인수 효과 제거 시 정체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선행지표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수주·트래픽·점유율·고객 수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향후 매출 가시성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수주 취소, 점유율·재구매율 하락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94E86-09B7-4938-8117-0AB26A0D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다음 질문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5BC93-CA8B-4C61-9CA5-148076C4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57825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매출 증가가 총이익률과 영업이익률 개선으로 이어지는가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ECB50-1F2A-470D-B07A-D0DFF306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함께 확인: 제품·지역·고객별 성장, 매출채권과 재고의 증가 속도</a:t>
            </a:r>
          </a:p>
        </p:txBody>
      </p:sp>
    </p:spTree>
    <p:extLst>
      <p:ext uri="{BB962C8B-B14F-4D97-AF65-F5344CB8AC3E}">
        <p14:creationId xmlns:p14="http://schemas.microsoft.com/office/powerpoint/2010/main" val="905104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0DCE5-FAE3-4EB2-BDA1-B22C5B70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실무 분석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30C08-F135-47C2-B416-9249B5C3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이익률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8AA48-983F-41FF-9D30-D1007531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88C61-D8DE-42D0-BB36-97478E50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6832A-9B93-487B-BEAB-7839C1E5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63EF1-06DA-4F83-BF26-0FE8C746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82A82-7C61-4352-8A81-D32F0044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이익률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77390-E4F0-45CC-9B4C-F9A61D82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81125"/>
            <a:ext cx="918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성장이 영업이익과 순이익으로 남고 있는가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66750" y="2324100"/>
          <a:ext xmlns:a="http://schemas.openxmlformats.org/drawingml/2006/main" cx="108585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0991"/>
                <a:gridCol w="2562876"/>
                <a:gridCol w="3439649"/>
                <a:gridCol w="3034984"/>
              </a:tblGrid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지표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실무 판단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경고 신호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매출총이익률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매출총이익 / 매출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 결정력, 제품 믹스, 직접원가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증가에도 총이익률 하락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영업이익률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영업이익 / 매출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판관비 통제와 영업 레버리지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총이익률 안정에도 영업이익률 하락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순이익률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당기순이익 / 매출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금융비용·세금·기타손익의 영향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영업이익 정체에도 순이익만 급증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증분 영업이익률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영업이익 증가 / 매출 증가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매출이 만드는 이익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확대 대비 이익 증가 미미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8E0FE-714E-473B-8235-E897B95F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해석 순서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69993-FF57-4309-8102-32578162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816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78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총이익률로 가격·원가를 보고, 영업이익률로 판관비를 본 뒤, 순이익률에서 금융·세금 효과를 분리한다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D4FE0-7F8A-4946-AE27-00CDA06A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다음 단계: 이익이 영업활동현금흐름과 FCF로 전환되는지 확인</a:t>
            </a:r>
          </a:p>
        </p:txBody>
      </p:sp>
    </p:spTree>
    <p:extLst>
      <p:ext uri="{BB962C8B-B14F-4D97-AF65-F5344CB8AC3E}">
        <p14:creationId xmlns:p14="http://schemas.microsoft.com/office/powerpoint/2010/main" val="11069918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D5425-67BC-486A-ACD0-14C3D17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실무 분석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5C907-94F5-4335-B876-DF297681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현금흐름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E5D35-686D-45E3-BF07-B496D9BD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11345-6F87-45F5-9684-69125F76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55E08-9710-49AE-87BA-121633CA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D071D-0795-4F47-8F22-2B828313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5345D-FBAC-43C6-9B49-F684F354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현금흐름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EA892-DB6C-4F25-B91A-33902695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81125"/>
            <a:ext cx="918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회계상 이익이 현금으로 회수되고 있는가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66750" y="2324100"/>
          <a:ext xmlns:a="http://schemas.openxmlformats.org/drawingml/2006/main" cx="108585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0991"/>
                <a:gridCol w="2562876"/>
                <a:gridCol w="3439649"/>
                <a:gridCol w="3034984"/>
              </a:tblGrid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지표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산식 또는 기준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실무 판단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경고 신호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CFO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영업활동 순현금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본업의 실제 현금창출력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순이익 증가에도 CFO 감소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CFO / 순이익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영업현금 / 순이익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이익의 현금 전환 정도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수년간 1배 미만이며 하락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FCF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CFO - 현금 CAPEX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투자 후 상환·환원·재투자 여력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배당·차입 확대와 FCF 적자 동시 발생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CCC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DSO + DIO - DPO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운전자본에 현금이 묶이는 기간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성장과 동시에 CCC 장기화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CBFE6-99E0-418D-A9F5-C3A8A9CC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누적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F9DB6-9CF8-433B-BA0A-32901726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한 해의 시점 효과를 줄이기 위해 3~5년 누적 CFO와 누적 순이익을 비교한다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45C29-7A8D-4CDF-9654-00A4563D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다음 단계: 현금창출력으로 이자·원금·만기를 감당할 수 있는지 확인</a:t>
            </a:r>
          </a:p>
        </p:txBody>
      </p:sp>
    </p:spTree>
    <p:extLst>
      <p:ext uri="{BB962C8B-B14F-4D97-AF65-F5344CB8AC3E}">
        <p14:creationId xmlns:p14="http://schemas.microsoft.com/office/powerpoint/2010/main" val="1293072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678BA-AD20-4576-A430-6D1997F1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실무 분석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ED714-AC47-4EA8-9939-ECEED4A4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차입 부담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C0C2C-4687-4C76-860B-ECBAFC25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89151-8E6C-4789-BA71-71203CD9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2C65B-5628-41E1-BA3A-B7ECA0A8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48330-022F-46A6-8DDB-B8EF6602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87C18-5B93-4E1B-8AC2-6D58092A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차입 부담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F31C9-C77E-40C4-B6B8-D62DFD6B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81125"/>
            <a:ext cx="918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현금창출력으로 이자와 원금을 감당할 수 있는가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66750" y="2324100"/>
          <a:ext xmlns:a="http://schemas.openxmlformats.org/drawingml/2006/main" cx="108585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0991"/>
                <a:gridCol w="2562876"/>
                <a:gridCol w="3439649"/>
                <a:gridCol w="3034984"/>
              </a:tblGrid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지표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산식 또는 기준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실무 판단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경고 신호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순차입금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이자부차입금 - 현금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실질 금융부채와 증가 속도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FCF 적자와 동시에 빠르게 증가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순차입금 / EBITDA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순부채 / 연간 EBITDA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이익 규모 대비 부채 부담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업황 둔화기에 배수 급등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이자보상배율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영업이익 또는 EBIT / 이자비용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이자 지급능력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1배 근접 또는 지속 하락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만기·금리 구조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단기 만기, 변동금리, 약정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차환 위험과 금리 민감도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단기 만기 집중, 약정 여유 축소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BD904-D985-4B28-A8A8-5B096A88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핵심 원칙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405DE-72CF-4302-BC6C-6290E5AD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부채비율보다 상환능력과 만기 구조를 우선한다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588FD-3F3A-4439-9E5C-5E84A623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다음 단계: 차입을 포함한 투하자본이 자본비용보다 높은 수익을 만드는지 확인</a:t>
            </a:r>
          </a:p>
        </p:txBody>
      </p:sp>
    </p:spTree>
    <p:extLst>
      <p:ext uri="{BB962C8B-B14F-4D97-AF65-F5344CB8AC3E}">
        <p14:creationId xmlns:p14="http://schemas.microsoft.com/office/powerpoint/2010/main" val="10526298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246AA-E49B-4989-9772-714B126A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실무 분석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12590-8DDA-4C53-8492-1AC53151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투자수익률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15B23-C54A-4081-B31F-49E242D2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01B23-21D9-4F76-8B24-65C908D5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8C1FE-4D82-4C40-943C-61DA5A74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41219-26DE-4A88-B624-0B5F2138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B9AA8-F113-48FB-81C1-AF5578B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4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투자수익률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ACC32-1925-4AF6-B205-91604573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81125"/>
            <a:ext cx="918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투입한 자본이 자본비용보다 높은 수익을 만드는가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66750" y="2324100"/>
          <a:ext xmlns:a="http://schemas.openxmlformats.org/drawingml/2006/main" cx="108585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0991"/>
                <a:gridCol w="2562876"/>
                <a:gridCol w="3439649"/>
                <a:gridCol w="3034984"/>
              </a:tblGrid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지표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실무 판단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경고 신호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NOPAT / 평균 투하자본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 자체의 자본 수익률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투자 증가 후 ROIC 지속 하락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ROIC - WACC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투하자본수익률 - 자본비용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경제적 가치 창출 여부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스프레드가 지속적으로 음수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순이익 / 평균 자본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주주자본의 회계상 수익률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부채 증가나 자본 감소로만 상승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ROA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순이익 / 평균 총자산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자산의 수익 창출 효율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자산 증가보다 이익 증가가 느림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F131E-D2A6-436F-BAE2-830C14AA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분해 관점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4700E-D7D7-4DF0-904B-7B346010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102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ROE 상승은 순이익률·자산회전율·재무 레버리지 중 무엇이 만들었는지 분해한다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554BB-180A-47B3-A6F8-B7F7B6C4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다음 단계: 성장·수익·위험이 현재 시장가격에 어느 정도 반영됐는지 확인</a:t>
            </a:r>
          </a:p>
        </p:txBody>
      </p:sp>
    </p:spTree>
    <p:extLst>
      <p:ext uri="{BB962C8B-B14F-4D97-AF65-F5344CB8AC3E}">
        <p14:creationId xmlns:p14="http://schemas.microsoft.com/office/powerpoint/2010/main" val="5937312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F25CE-E6AF-4D1F-BF4B-EBA268D7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실무 분석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86369-C717-4A47-84F3-9AF17E91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주가 수준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E4491-5734-494E-A538-0A1D3186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B72DC-2EEC-45EE-BEFD-98CCA788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5560C-0369-42F8-850C-D8027172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F4E6C-310B-4DB0-BE93-DD6E394F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964A3-F78D-4B48-8801-5129691F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주가 수준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D364F-21C4-4330-A97D-B557049A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81125"/>
            <a:ext cx="918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현재 가격이 성장과 위험을 어느 정도 반영하고 있는가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66750" y="2324100"/>
          <a:ext xmlns:a="http://schemas.openxmlformats.org/drawingml/2006/main" cx="108585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0991"/>
                <a:gridCol w="2562876"/>
                <a:gridCol w="3439649"/>
                <a:gridCol w="3034984"/>
              </a:tblGrid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지표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적합한 활용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 주의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주가 / EPS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이익 성장과 위험이 유사한 기업 비교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적자기업과 일회성 이익에 부적합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PBR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주가 / BPS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자산과 자본이 중요한 업종 비교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ROE·자산 건전성과 함께 확인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EV / EBITDA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기업가치 / EBITDA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자본구조가 다른 기업의 보조 비교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CAPEX·운전자본 부담을 반영하지 못함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FCF 수익률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FCF / 시가총액 또는 EV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현금창출력 대비 가격 평가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정상화 FCF와 투자주기 필요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632099-3D41-4B1C-AC1B-C69FAFB9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비교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EAE21-E424-4C82-B73B-D4D9564F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성장률·마진·재무위험·자본효율이 비슷한 기업끼리 비교한다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848EF-940B-422E-84BD-37901E91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낮은 배수는 저평가뿐 아니라 성장 둔화·재무위험·자산 부실을 반영할 수 있음</a:t>
            </a:r>
          </a:p>
        </p:txBody>
      </p:sp>
    </p:spTree>
    <p:extLst>
      <p:ext uri="{BB962C8B-B14F-4D97-AF65-F5344CB8AC3E}">
        <p14:creationId xmlns:p14="http://schemas.microsoft.com/office/powerpoint/2010/main" val="9740642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F5F15-3734-411B-826E-916ED9E9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종합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FAF44-0727-4024-8BD5-FB1E41E5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지표 조합으로 읽는 경고 신호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437EB-395A-406A-B5FA-6ED59B68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E81B6-4883-4FDB-9FC0-CA95BAD3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04850" y="1619250"/>
          <a:ext xmlns:a="http://schemas.openxmlformats.org/drawingml/2006/main" cx="107823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65133"/>
                <a:gridCol w="4043363"/>
                <a:gridCol w="3773805"/>
              </a:tblGrid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 조합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가능한 해석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확인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증가 + 영업이익률 하락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 인하, 원가 상승, 저마진 제품 확대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판매량·단가, 제품 믹스, 원재료비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순이익 증가 + CFO 감소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이익의 현금 전환 약화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매출채권·재고, 일회성 이익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ROE 상승 + 부채비율 상승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레버리지가 ROE를 끌어올림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ROA, ROIC, 이자보상배율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FCF 적자 + CAPEX 급증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성장투자 또는 과잉투자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투자 목적, 가동 시점, 예상 ROIC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증가 + CCC 장기화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성장에 따른 운전자본 부담 확대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DSO·DIO·DPO별 원인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 하락 + ROIC 하락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낮은 가격이 가치 창출력 약화를 반영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정상화 이익, 투자회수, 산업 구조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B2E81-D653-474B-B8FE-B9E5D751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43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365D"/>
                </a:solidFill>
                <a:latin typeface="Malgun Gothic"/>
                <a:ea typeface="Malgun Gothic"/>
                <a:cs typeface="Malgun Gothic"/>
              </a:rPr>
              <a:t>신호는 결론이 아니라 추가 검토의 출발점이다</a:t>
            </a:r>
          </a:p>
        </p:txBody>
      </p:sp>
    </p:spTree>
    <p:extLst>
      <p:ext uri="{BB962C8B-B14F-4D97-AF65-F5344CB8AC3E}">
        <p14:creationId xmlns:p14="http://schemas.microsoft.com/office/powerpoint/2010/main" val="12292775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099B1-8001-47FD-B1E0-47F3505B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업무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F3985-CCB6-4B49-82E0-6ED51DCD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실무 검토 루틴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3D470-5F10-4316-91C9-6924D9C6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015A7-FA33-4BCC-B24A-DAE323A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90600" y="1619250"/>
          <a:ext xmlns:a="http://schemas.openxmlformats.org/drawingml/2006/main" cx="10210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6864"/>
                <a:gridCol w="5173472"/>
                <a:gridCol w="4220464"/>
              </a:tblGrid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연결·별도, 기간, 단위, 회계기준 통일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가능한 원천 데이터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3~5개 기간의 금액·비율·증감률 계산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추세표와 이상 변동 목록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 성장부터 주가 수준까지 여섯 단계 검토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단계별 판단과 다음 질문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주석과 사업보고서에서 원인 검증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일회성 항목과 회계정책 조정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동종기업과 비교하고 차이를 설명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 강점·위험·밸류에이션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기본·상향·하향 시나리오에 핵심 변수 반영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의사결정 범위와 모니터링 지표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054B0-199D-4955-B031-6FA9AC51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56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50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정의가 다른 지표는 산식을 기록한다.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50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정상화 조정은 근거와 금액을 남긴다.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50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판단을 바꾸는 지표만 정기 모니터링 목록에 둔다.</a:t>
            </a:r>
          </a:p>
        </p:txBody>
      </p:sp>
    </p:spTree>
    <p:extLst>
      <p:ext uri="{BB962C8B-B14F-4D97-AF65-F5344CB8AC3E}">
        <p14:creationId xmlns:p14="http://schemas.microsoft.com/office/powerpoint/2010/main" val="4581431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264AF-A9F0-45AA-AFB5-12D62189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9B74E-1880-40D0-9F25-10D623FD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핵심 산식 참고표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C3308-6CD1-4D90-AF8B-6F8C9226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FB947-4A87-438D-B245-A18D9DEA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428750" y="1485900"/>
          <a:ext xmlns:a="http://schemas.openxmlformats.org/drawingml/2006/main" cx="9334500" cy="4324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13703"/>
                <a:gridCol w="2522838"/>
                <a:gridCol w="5297959"/>
              </a:tblGrid>
              <a:tr h="43243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계산식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43243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매출증가율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당기 매출 / 전기 매출 - 1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43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수익성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영업이익률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영업이익 / 매출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43243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FCF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CFO - 현금 기준 CAPEX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43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운전자본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CCC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DSO + DIO - DPO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43243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이자보상배율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영업이익 또는 EBIT / 이자비용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43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차입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순차입금 / EBITDA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(이자부차입금 - 현금) / 연간 EBITDA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43243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수익률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NOPAT / 평균 투하자본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43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시장가치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주가 / EPS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43243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시장가치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EV / EBITDA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기업가치 / EBITDA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240FE-554A-4728-821D-2F2641F4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평균 잔액 = (기초 잔액 + 기말 잔액) / 2   |   비교 전 지표 정의와 조정 범위를 통일</a:t>
            </a:r>
          </a:p>
        </p:txBody>
      </p:sp>
    </p:spTree>
    <p:extLst>
      <p:ext uri="{BB962C8B-B14F-4D97-AF65-F5344CB8AC3E}">
        <p14:creationId xmlns:p14="http://schemas.microsoft.com/office/powerpoint/2010/main" val="17074753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42DEE-12E6-4173-BE14-90A2B30B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5597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2B91F-40E2-42E9-9BF9-C9B10AB1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해석이 달라지는 주요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0124C-C3A6-47CE-861E-85F1CADF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52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657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D9231-3C29-42C4-9AD2-9AACBD08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1657350"/>
          <a:ext xmlns:a="http://schemas.openxmlformats.org/drawingml/2006/main" cx="10668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29023"/>
                <a:gridCol w="3721395"/>
                <a:gridCol w="4217581"/>
              </a:tblGrid>
              <a:tr h="5873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영향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실무 처리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873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전기 이익이 0 또는 음수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증가율이 무의미하거나 과도하게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흑자전환·적자축소와 금액 변화를 표시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EPS 또는 자본이 음수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PER·PBR·ROE의 통상 비교가 어려움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현금흐름·기업가치·재무회복 가능성 중심으로 검토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873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계절성이 큰 사업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기말 잔액과 연환산 비율이 왜곡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월평균·분기평균과 같은 기간 일수 사용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대규모 인수·매각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성장률·마진·자산회전율의 기준 변경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유기적 성장과 계속영업 기준을 병행</a:t>
                      </a:r>
                    </a:p>
                  </a:txBody>
                  <a:tcPr marL="91440" marR="91440" marT="45720" marB="45720" anchor="ctr">
                    <a:solidFill>
                      <a:srgbClr val="F5F8FC"/>
                    </a:solidFill>
                  </a:tcPr>
                </a:tc>
              </a:tr>
              <a:tr h="5873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7365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금융업 등 특수 업종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제조·서비스업 비율의 설명력 저하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720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규제자본·건전성·업종별 핵심지표 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4A6EA-D8B6-4D5F-A661-5FE0FD8B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9750"/>
            <a:ext cx="994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65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365D"/>
                </a:solidFill>
                <a:latin typeface="Malgun Gothic"/>
                <a:ea typeface="Malgun Gothic"/>
                <a:cs typeface="Malgun Gothic"/>
              </a:rPr>
              <a:t>최종 판단은 성장의 질, 현금창출력, 재무위험, 자본효율, 시장 기대를 함께 반영한다</a:t>
            </a:r>
          </a:p>
        </p:txBody>
      </p:sp>
    </p:spTree>
    <p:extLst>
      <p:ext uri="{BB962C8B-B14F-4D97-AF65-F5344CB8AC3E}">
        <p14:creationId xmlns:p14="http://schemas.microsoft.com/office/powerpoint/2010/main" val="131918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2026-09-19T05:27:37.3460000Z</dcterms:created>
  <dcterms:modified xsi:type="dcterms:W3CDTF">2026-09-19T05:27:37.3460000Z</dcterms:modified>
</coreProperties>
</file>